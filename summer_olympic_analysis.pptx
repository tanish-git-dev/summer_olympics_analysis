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2" r:id="rId3"/>
    <p:sldId id="256" r:id="rId4"/>
    <p:sldId id="257" r:id="rId5"/>
    <p:sldId id="258" r:id="rId6"/>
    <p:sldId id="259" r:id="rId7"/>
    <p:sldId id="266" r:id="rId8"/>
    <p:sldId id="267" r:id="rId9"/>
    <p:sldId id="270" r:id="rId10"/>
    <p:sldId id="268" r:id="rId11"/>
    <p:sldId id="273" r:id="rId12"/>
    <p:sldId id="274" r:id="rId13"/>
    <p:sldId id="27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56"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1132821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786525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4135DE-E067-4CA7-AD57-5E7D9399FD9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197365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34135DE-E067-4CA7-AD57-5E7D9399FD9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91535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34135DE-E067-4CA7-AD57-5E7D9399FD94}"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4141731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4135DE-E067-4CA7-AD57-5E7D9399FD94}"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490938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135DE-E067-4CA7-AD57-5E7D9399FD94}"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131011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135DE-E067-4CA7-AD57-5E7D9399FD9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2404032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135DE-E067-4CA7-AD57-5E7D9399FD9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079951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47775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4135DE-E067-4CA7-AD57-5E7D9399FD9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0F96E6-2294-4645-93A5-44F0F11E4872}" type="slidenum">
              <a:rPr lang="en-US" smtClean="0"/>
              <a:t>‹#›</a:t>
            </a:fld>
            <a:endParaRPr lang="en-US"/>
          </a:p>
        </p:txBody>
      </p:sp>
    </p:spTree>
    <p:extLst>
      <p:ext uri="{BB962C8B-B14F-4D97-AF65-F5344CB8AC3E}">
        <p14:creationId xmlns:p14="http://schemas.microsoft.com/office/powerpoint/2010/main" val="34918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135DE-E067-4CA7-AD57-5E7D9399FD94}" type="datetimeFigureOut">
              <a:rPr lang="en-US" smtClean="0"/>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0F96E6-2294-4645-93A5-44F0F11E4872}" type="slidenum">
              <a:rPr lang="en-US" smtClean="0"/>
              <a:t>‹#›</a:t>
            </a:fld>
            <a:endParaRPr lang="en-US"/>
          </a:p>
        </p:txBody>
      </p:sp>
    </p:spTree>
    <p:extLst>
      <p:ext uri="{BB962C8B-B14F-4D97-AF65-F5344CB8AC3E}">
        <p14:creationId xmlns:p14="http://schemas.microsoft.com/office/powerpoint/2010/main" val="6747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5821363"/>
          </a:xfrm>
        </p:spPr>
        <p:txBody>
          <a:bodyPr>
            <a:normAutofit/>
          </a:bodyPr>
          <a:lstStyle/>
          <a:p>
            <a:pPr marL="0" indent="0">
              <a:buNone/>
            </a:pPr>
            <a:r>
              <a:rPr lang="en-US" sz="4800" dirty="0" smtClean="0"/>
              <a:t>		</a:t>
            </a:r>
          </a:p>
          <a:p>
            <a:pPr marL="0" indent="0">
              <a:buNone/>
            </a:pPr>
            <a:r>
              <a:rPr lang="en-US" sz="4800" dirty="0"/>
              <a:t>	</a:t>
            </a:r>
            <a:r>
              <a:rPr lang="en-US" sz="4800" dirty="0" smtClean="0"/>
              <a:t>	</a:t>
            </a:r>
          </a:p>
          <a:p>
            <a:pPr marL="0" indent="0">
              <a:buNone/>
            </a:pPr>
            <a:r>
              <a:rPr lang="en-US" sz="4800" dirty="0"/>
              <a:t>	</a:t>
            </a:r>
            <a:r>
              <a:rPr lang="en-US" sz="4800" dirty="0" smtClean="0"/>
              <a:t>		</a:t>
            </a:r>
            <a:r>
              <a:rPr lang="en-US" sz="4800" b="1" dirty="0" smtClean="0"/>
              <a:t>ANALYSIS </a:t>
            </a:r>
            <a:r>
              <a:rPr lang="en-US" sz="4800" dirty="0" smtClean="0"/>
              <a:t>							OF</a:t>
            </a:r>
            <a:r>
              <a:rPr lang="en-US" sz="6600" dirty="0" smtClean="0"/>
              <a:t> </a:t>
            </a:r>
          </a:p>
          <a:p>
            <a:pPr marL="0" indent="0">
              <a:buNone/>
            </a:pPr>
            <a:r>
              <a:rPr lang="en-US" sz="4800" dirty="0"/>
              <a:t>	</a:t>
            </a:r>
            <a:r>
              <a:rPr lang="en-US" sz="4800" dirty="0" smtClean="0"/>
              <a:t>	</a:t>
            </a:r>
            <a:r>
              <a:rPr lang="en-US" sz="4800" b="1" dirty="0" smtClean="0"/>
              <a:t>SUMMER OLYMPICS</a:t>
            </a:r>
          </a:p>
          <a:p>
            <a:pPr marL="0" indent="0">
              <a:buNone/>
            </a:pPr>
            <a:r>
              <a:rPr lang="en-US" sz="4800" dirty="0"/>
              <a:t>	</a:t>
            </a:r>
            <a:r>
              <a:rPr lang="en-US" sz="4800" dirty="0" smtClean="0"/>
              <a:t>	   ( 1896 – 2024 )</a:t>
            </a:r>
            <a:endParaRPr lang="en-US" sz="4800" dirty="0"/>
          </a:p>
        </p:txBody>
      </p:sp>
    </p:spTree>
    <p:extLst>
      <p:ext uri="{BB962C8B-B14F-4D97-AF65-F5344CB8AC3E}">
        <p14:creationId xmlns:p14="http://schemas.microsoft.com/office/powerpoint/2010/main" val="58143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TO ANSWER</a:t>
            </a:r>
            <a:endParaRPr lang="en-US" dirty="0"/>
          </a:p>
        </p:txBody>
      </p:sp>
      <p:sp>
        <p:nvSpPr>
          <p:cNvPr id="3" name="Content Placeholder 2"/>
          <p:cNvSpPr>
            <a:spLocks noGrp="1"/>
          </p:cNvSpPr>
          <p:nvPr>
            <p:ph idx="1"/>
          </p:nvPr>
        </p:nvSpPr>
        <p:spPr/>
        <p:txBody>
          <a:bodyPr/>
          <a:lstStyle/>
          <a:p>
            <a:pPr marL="0" indent="0" algn="just">
              <a:buNone/>
            </a:pPr>
            <a:r>
              <a:rPr lang="en-US" dirty="0" smtClean="0"/>
              <a:t>Q1. What are the most dominant countries in the olympics?</a:t>
            </a:r>
          </a:p>
          <a:p>
            <a:pPr marL="0" indent="0" algn="just">
              <a:buNone/>
            </a:pPr>
            <a:r>
              <a:rPr lang="en-US" dirty="0" smtClean="0"/>
              <a:t>Q2. What are the most efficient countries in the olympics?</a:t>
            </a:r>
          </a:p>
          <a:p>
            <a:pPr marL="0" indent="0" algn="just">
              <a:buNone/>
            </a:pPr>
            <a:r>
              <a:rPr lang="en-US" dirty="0" smtClean="0"/>
              <a:t>Q3. How has gender participation and athlete physiology changed over the years.</a:t>
            </a:r>
          </a:p>
          <a:p>
            <a:pPr marL="0" indent="0" algn="just">
              <a:buNone/>
            </a:pPr>
            <a:r>
              <a:rPr lang="en-US" dirty="0" smtClean="0"/>
              <a:t>Q4. Does hosting olympics have an increase in performance the following years?</a:t>
            </a:r>
          </a:p>
          <a:p>
            <a:pPr marL="0" indent="0">
              <a:buNone/>
            </a:pPr>
            <a:endParaRPr lang="en-US" dirty="0"/>
          </a:p>
        </p:txBody>
      </p:sp>
    </p:spTree>
    <p:extLst>
      <p:ext uri="{BB962C8B-B14F-4D97-AF65-F5344CB8AC3E}">
        <p14:creationId xmlns:p14="http://schemas.microsoft.com/office/powerpoint/2010/main" val="1987492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304800"/>
            <a:ext cx="8229600" cy="914400"/>
          </a:xfrm>
        </p:spPr>
        <p:txBody>
          <a:bodyPr/>
          <a:lstStyle/>
          <a:p>
            <a:r>
              <a:rPr lang="en-US" dirty="0" smtClean="0"/>
              <a:t>1-A : Most dominant countries</a:t>
            </a:r>
            <a:endParaRPr lang="en-US" dirty="0"/>
          </a:p>
        </p:txBody>
      </p:sp>
      <p:sp>
        <p:nvSpPr>
          <p:cNvPr id="8" name="Content Placeholder 7"/>
          <p:cNvSpPr>
            <a:spLocks noGrp="1"/>
          </p:cNvSpPr>
          <p:nvPr>
            <p:ph idx="1"/>
          </p:nvPr>
        </p:nvSpPr>
        <p:spPr>
          <a:xfrm>
            <a:off x="457200" y="1219200"/>
            <a:ext cx="8229600" cy="4906963"/>
          </a:xfrm>
        </p:spPr>
        <p:txBody>
          <a:bodyPr>
            <a:normAutofit/>
          </a:bodyPr>
          <a:lstStyle/>
          <a:p>
            <a:pPr marL="0" indent="0" algn="just">
              <a:buNone/>
            </a:pPr>
            <a:r>
              <a:rPr lang="en-US" sz="1800" dirty="0" smtClean="0"/>
              <a:t>This graph shows us the most dominant countries over all the years ordered by most number of gold, silver and then bronze. USA is the most dominant country by a mile, followed by Russia and Germany.</a:t>
            </a:r>
            <a:endParaRPr lang="en-US" sz="180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389" y="2209800"/>
            <a:ext cx="7619999" cy="4090442"/>
          </a:xfrm>
          <a:prstGeom prst="rect">
            <a:avLst/>
          </a:prstGeom>
        </p:spPr>
      </p:pic>
    </p:spTree>
    <p:extLst>
      <p:ext uri="{BB962C8B-B14F-4D97-AF65-F5344CB8AC3E}">
        <p14:creationId xmlns:p14="http://schemas.microsoft.com/office/powerpoint/2010/main" val="2187249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219200"/>
          </a:xfrm>
        </p:spPr>
        <p:txBody>
          <a:bodyPr>
            <a:normAutofit fontScale="90000"/>
          </a:bodyPr>
          <a:lstStyle/>
          <a:p>
            <a:r>
              <a:rPr lang="en-US" dirty="0" smtClean="0"/>
              <a:t>1-B : </a:t>
            </a:r>
            <a:r>
              <a:rPr lang="en-US" sz="4900" dirty="0" smtClean="0"/>
              <a:t>Dominant</a:t>
            </a:r>
            <a:r>
              <a:rPr lang="en-US" dirty="0" smtClean="0"/>
              <a:t> countries by decade</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lgn="just">
              <a:buNone/>
            </a:pPr>
            <a:r>
              <a:rPr lang="en-US" sz="1800" dirty="0" smtClean="0"/>
              <a:t>This graph shows the most dominant countries in the decade of 2000, countries that have strong results in recent years like Cuba, South Korea show up here, they were missing on total dominant list. Interestingly USA, Russia and Germany are still top 3.</a:t>
            </a: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193202"/>
            <a:ext cx="7772400" cy="4490136"/>
          </a:xfrm>
          <a:prstGeom prst="rect">
            <a:avLst/>
          </a:prstGeom>
        </p:spPr>
      </p:pic>
    </p:spTree>
    <p:extLst>
      <p:ext uri="{BB962C8B-B14F-4D97-AF65-F5344CB8AC3E}">
        <p14:creationId xmlns:p14="http://schemas.microsoft.com/office/powerpoint/2010/main" val="224061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smtClean="0"/>
              <a:t>2-A : Most efficient </a:t>
            </a:r>
            <a:r>
              <a:rPr lang="en-US" dirty="0"/>
              <a:t>c</a:t>
            </a:r>
            <a:r>
              <a:rPr lang="en-US" dirty="0" smtClean="0"/>
              <a:t>ountries</a:t>
            </a:r>
            <a:endParaRPr lang="en-US" dirty="0"/>
          </a:p>
        </p:txBody>
      </p:sp>
      <p:sp>
        <p:nvSpPr>
          <p:cNvPr id="3" name="Content Placeholder 2"/>
          <p:cNvSpPr>
            <a:spLocks noGrp="1"/>
          </p:cNvSpPr>
          <p:nvPr>
            <p:ph idx="1"/>
          </p:nvPr>
        </p:nvSpPr>
        <p:spPr>
          <a:xfrm>
            <a:off x="457200" y="1219200"/>
            <a:ext cx="8229600" cy="4906963"/>
          </a:xfrm>
        </p:spPr>
        <p:txBody>
          <a:bodyPr/>
          <a:lstStyle/>
          <a:p>
            <a:pPr marL="0" indent="0" algn="just">
              <a:buNone/>
            </a:pPr>
            <a:r>
              <a:rPr lang="en-US" sz="1600" dirty="0" smtClean="0"/>
              <a:t>This graph shows the most efficiently performing countries in the olympics (medals / number of athletes). Romania, Norway, Sweden were missing on dominant countries list but they show up here despite less total participation due to small population they have a high </a:t>
            </a:r>
            <a:r>
              <a:rPr lang="en-US" sz="1600" dirty="0" err="1" smtClean="0"/>
              <a:t>winrate</a:t>
            </a:r>
            <a:r>
              <a:rPr lang="en-US" sz="1600"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187701"/>
            <a:ext cx="7772400" cy="4658982"/>
          </a:xfrm>
          <a:prstGeom prst="rect">
            <a:avLst/>
          </a:prstGeom>
        </p:spPr>
      </p:pic>
    </p:spTree>
    <p:extLst>
      <p:ext uri="{BB962C8B-B14F-4D97-AF65-F5344CB8AC3E}">
        <p14:creationId xmlns:p14="http://schemas.microsoft.com/office/powerpoint/2010/main" val="729217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normAutofit fontScale="90000"/>
          </a:bodyPr>
          <a:lstStyle/>
          <a:p>
            <a:r>
              <a:rPr lang="en-US" dirty="0" smtClean="0"/>
              <a:t>2-B : Medals per </a:t>
            </a:r>
            <a:r>
              <a:rPr lang="en-US" dirty="0" err="1" smtClean="0"/>
              <a:t>olympic</a:t>
            </a:r>
            <a:r>
              <a:rPr lang="en-US" dirty="0" smtClean="0"/>
              <a:t> </a:t>
            </a:r>
            <a:r>
              <a:rPr lang="en-US" dirty="0" err="1" smtClean="0"/>
              <a:t>appearence</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lgn="just">
              <a:buNone/>
            </a:pPr>
            <a:r>
              <a:rPr lang="en-US" sz="1800" dirty="0" smtClean="0"/>
              <a:t>This graph shows the highest countries by medals per </a:t>
            </a:r>
            <a:r>
              <a:rPr lang="en-US" sz="1800" dirty="0" err="1" smtClean="0"/>
              <a:t>olympic</a:t>
            </a:r>
            <a:r>
              <a:rPr lang="en-US" sz="1800" dirty="0" smtClean="0"/>
              <a:t> appearance ( total medals / number of times they participated ). </a:t>
            </a:r>
            <a:r>
              <a:rPr lang="en-US" sz="1800" dirty="0" smtClean="0"/>
              <a:t>Cou</a:t>
            </a:r>
            <a:r>
              <a:rPr lang="en-US" sz="1800" dirty="0" smtClean="0"/>
              <a:t>ntries </a:t>
            </a:r>
            <a:r>
              <a:rPr lang="en-US" sz="1800" dirty="0" smtClean="0"/>
              <a:t>like US and Russia dominate here </a:t>
            </a:r>
            <a:r>
              <a:rPr lang="en-US" sz="1800" dirty="0" err="1" smtClean="0"/>
              <a:t>aswell</a:t>
            </a:r>
            <a:r>
              <a:rPr lang="en-US" sz="1800" dirty="0" smtClean="0"/>
              <a:t>, these countries have been putting consistent numbers at each olympics.</a:t>
            </a: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149915"/>
            <a:ext cx="7543800" cy="4521953"/>
          </a:xfrm>
          <a:prstGeom prst="rect">
            <a:avLst/>
          </a:prstGeom>
        </p:spPr>
      </p:pic>
    </p:spTree>
    <p:extLst>
      <p:ext uri="{BB962C8B-B14F-4D97-AF65-F5344CB8AC3E}">
        <p14:creationId xmlns:p14="http://schemas.microsoft.com/office/powerpoint/2010/main" val="264489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a:t>3</a:t>
            </a:r>
            <a:r>
              <a:rPr lang="en-US" dirty="0" smtClean="0"/>
              <a:t>-A : Female participation</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buNone/>
            </a:pPr>
            <a:r>
              <a:rPr lang="en-US" sz="1600" dirty="0" smtClean="0"/>
              <a:t>This graph shows the female participation over the years in olympics. The graph has been steadily increasing aside from a drop near 1940s. The participation number is at almost 50% which means olympics in recent years have been having pretty much equal gender participation.</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57" y="2057400"/>
            <a:ext cx="8229600" cy="4463632"/>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417638"/>
          </a:xfrm>
        </p:spPr>
        <p:txBody>
          <a:bodyPr/>
          <a:lstStyle/>
          <a:p>
            <a:r>
              <a:rPr lang="en-US" dirty="0" smtClean="0"/>
              <a:t>3-B(1) : Athlete physiology trend</a:t>
            </a:r>
            <a:endParaRPr lang="en-US" dirty="0"/>
          </a:p>
        </p:txBody>
      </p:sp>
      <p:sp>
        <p:nvSpPr>
          <p:cNvPr id="3" name="Content Placeholder 2"/>
          <p:cNvSpPr>
            <a:spLocks noGrp="1"/>
          </p:cNvSpPr>
          <p:nvPr>
            <p:ph idx="1"/>
          </p:nvPr>
        </p:nvSpPr>
        <p:spPr>
          <a:xfrm>
            <a:off x="381000" y="1219200"/>
            <a:ext cx="8229600" cy="4906963"/>
          </a:xfrm>
        </p:spPr>
        <p:txBody>
          <a:bodyPr>
            <a:normAutofit/>
          </a:bodyPr>
          <a:lstStyle/>
          <a:p>
            <a:pPr marL="0" indent="0" algn="just">
              <a:buNone/>
            </a:pPr>
            <a:r>
              <a:rPr lang="en-US" sz="1600" dirty="0" smtClean="0"/>
              <a:t>This graph shows the trend in height of athletes over time, the highest number was reached in 1908 olympics, after that there was exponential decline, the height has been up and down between 1920s and 1960, after which it had a steady increase and it stays around ~176 in the recent editions.</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2438400"/>
            <a:ext cx="7966753" cy="4291369"/>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417638"/>
          </a:xfrm>
        </p:spPr>
        <p:txBody>
          <a:bodyPr/>
          <a:lstStyle/>
          <a:p>
            <a:r>
              <a:rPr lang="en-US" dirty="0" smtClean="0"/>
              <a:t>3-B(2) : Athlete physiology trend</a:t>
            </a:r>
            <a:endParaRPr lang="en-US" dirty="0"/>
          </a:p>
        </p:txBody>
      </p:sp>
      <p:sp>
        <p:nvSpPr>
          <p:cNvPr id="3" name="Content Placeholder 2"/>
          <p:cNvSpPr>
            <a:spLocks noGrp="1"/>
          </p:cNvSpPr>
          <p:nvPr>
            <p:ph idx="1"/>
          </p:nvPr>
        </p:nvSpPr>
        <p:spPr>
          <a:xfrm>
            <a:off x="381000" y="1219200"/>
            <a:ext cx="8229600" cy="4906963"/>
          </a:xfrm>
        </p:spPr>
        <p:txBody>
          <a:bodyPr>
            <a:normAutofit/>
          </a:bodyPr>
          <a:lstStyle/>
          <a:p>
            <a:pPr marL="0" indent="0" algn="just">
              <a:buNone/>
            </a:pPr>
            <a:r>
              <a:rPr lang="en-US" sz="1600" dirty="0" smtClean="0"/>
              <a:t>This graph shows the trend in weight of athletes over time, the highest number was reached in 1908 olympics ( same as highest ), after that there was exponential decline, the height has been up and down between 1920s and 1960, after which it had a steady increase and decrease and it stays around 71 </a:t>
            </a:r>
            <a:r>
              <a:rPr lang="en-US" sz="1600" dirty="0" err="1" smtClean="0"/>
              <a:t>kgs</a:t>
            </a:r>
            <a:r>
              <a:rPr lang="en-US" sz="1600" dirty="0" smtClean="0"/>
              <a:t> to 72 </a:t>
            </a:r>
            <a:r>
              <a:rPr lang="en-US" sz="1600" dirty="0" err="1" smtClean="0"/>
              <a:t>kgs</a:t>
            </a:r>
            <a:r>
              <a:rPr lang="en-US" sz="1600" dirty="0" smtClean="0"/>
              <a:t> in the recent editions.</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438400"/>
            <a:ext cx="7772400" cy="4215652"/>
          </a:xfrm>
          <a:prstGeom prst="rect">
            <a:avLst/>
          </a:prstGeom>
        </p:spPr>
      </p:pic>
    </p:spTree>
    <p:extLst>
      <p:ext uri="{BB962C8B-B14F-4D97-AF65-F5344CB8AC3E}">
        <p14:creationId xmlns:p14="http://schemas.microsoft.com/office/powerpoint/2010/main" val="165186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lang="en-US" dirty="0"/>
              <a:t>4</a:t>
            </a:r>
            <a:r>
              <a:rPr lang="en-US" dirty="0" smtClean="0"/>
              <a:t> : Most efficient </a:t>
            </a:r>
            <a:r>
              <a:rPr lang="en-US" dirty="0"/>
              <a:t>c</a:t>
            </a:r>
            <a:r>
              <a:rPr lang="en-US" dirty="0" smtClean="0"/>
              <a:t>ountries</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pPr marL="0" indent="0" algn="just">
              <a:buNone/>
            </a:pPr>
            <a:r>
              <a:rPr lang="en-US" sz="1600" dirty="0" smtClean="0"/>
              <a:t>This graph shows the increase in boost of medal efficiency after a country hosts olympics compared to the efficiency  of last 3 olympics before hosting. We can see that a lot of countries experience a very high medal boost after hosting the </a:t>
            </a:r>
            <a:r>
              <a:rPr lang="en-US" sz="1600" dirty="0" err="1" smtClean="0"/>
              <a:t>olympis</a:t>
            </a:r>
            <a:r>
              <a:rPr lang="en-US" sz="1600" dirty="0" smtClean="0"/>
              <a:t>, </a:t>
            </a:r>
            <a:r>
              <a:rPr lang="en-US" sz="1600" dirty="0" err="1" smtClean="0"/>
              <a:t>france</a:t>
            </a:r>
            <a:r>
              <a:rPr lang="en-US" sz="1600" dirty="0" smtClean="0"/>
              <a:t> in particular having a stellar near </a:t>
            </a:r>
            <a:r>
              <a:rPr lang="en-US" sz="1600" dirty="0" smtClean="0"/>
              <a:t>1000</a:t>
            </a:r>
            <a:r>
              <a:rPr lang="en-US" sz="1600" dirty="0" smtClean="0"/>
              <a:t>% boost, followed by </a:t>
            </a:r>
            <a:r>
              <a:rPr lang="en-US" sz="1600" dirty="0" err="1" smtClean="0"/>
              <a:t>belgium</a:t>
            </a:r>
            <a:r>
              <a:rPr lang="en-US" sz="1600" dirty="0" smtClean="0"/>
              <a:t> with </a:t>
            </a:r>
            <a:r>
              <a:rPr lang="en-US" sz="1600" dirty="0" smtClean="0"/>
              <a:t>near 80</a:t>
            </a:r>
            <a:r>
              <a:rPr lang="en-US" sz="1600" dirty="0" smtClean="0"/>
              <a:t>0% </a:t>
            </a:r>
            <a:r>
              <a:rPr lang="en-US" sz="1600" dirty="0" smtClean="0"/>
              <a:t>and </a:t>
            </a:r>
            <a:r>
              <a:rPr lang="en-US" sz="1600" dirty="0" err="1" smtClean="0"/>
              <a:t>mexico</a:t>
            </a:r>
            <a:r>
              <a:rPr lang="en-US" sz="1600" dirty="0" smtClean="0"/>
              <a:t> at </a:t>
            </a:r>
            <a:r>
              <a:rPr lang="en-US" sz="1600" dirty="0" smtClean="0"/>
              <a:t>550%+ </a:t>
            </a:r>
            <a:r>
              <a:rPr lang="en-US" sz="1600" dirty="0" smtClean="0"/>
              <a:t>boosts at 2</a:t>
            </a:r>
            <a:r>
              <a:rPr lang="en-US" sz="1600" baseline="30000" dirty="0" smtClean="0"/>
              <a:t>nd</a:t>
            </a:r>
            <a:r>
              <a:rPr lang="en-US" sz="1600" dirty="0" smtClean="0"/>
              <a:t> and 3</a:t>
            </a:r>
            <a:r>
              <a:rPr lang="en-US" sz="1600" baseline="30000" dirty="0" smtClean="0"/>
              <a:t>rd</a:t>
            </a:r>
            <a:r>
              <a:rPr lang="en-US" sz="1600" dirty="0" smtClean="0"/>
              <a:t> respectively.</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2587782"/>
            <a:ext cx="6979009" cy="4140413"/>
          </a:xfrm>
          <a:prstGeom prst="rect">
            <a:avLst/>
          </a:prstGeom>
        </p:spPr>
      </p:pic>
    </p:spTree>
    <p:extLst>
      <p:ext uri="{BB962C8B-B14F-4D97-AF65-F5344CB8AC3E}">
        <p14:creationId xmlns:p14="http://schemas.microsoft.com/office/powerpoint/2010/main" val="329455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sz="2400" dirty="0" smtClean="0"/>
              <a:t>DOMINANCE  and EFFICIENCY:</a:t>
            </a:r>
          </a:p>
          <a:p>
            <a:pPr algn="just"/>
            <a:r>
              <a:rPr lang="en-US" sz="2000" dirty="0" smtClean="0"/>
              <a:t>USA is the most dominant countries in the olympics by a mile. However its below Russia in terms of efficiency, this means US is higher than Russia due to its high number of participants, if Russian participation increases they can take the 1</a:t>
            </a:r>
            <a:r>
              <a:rPr lang="en-US" sz="2000" baseline="30000" dirty="0" smtClean="0"/>
              <a:t>st</a:t>
            </a:r>
            <a:r>
              <a:rPr lang="en-US" sz="2000" dirty="0" smtClean="0"/>
              <a:t> place over USA.</a:t>
            </a:r>
          </a:p>
          <a:p>
            <a:pPr algn="just"/>
            <a:r>
              <a:rPr lang="en-US" sz="2000" dirty="0" smtClean="0"/>
              <a:t>Small </a:t>
            </a:r>
            <a:r>
              <a:rPr lang="en-US" sz="2000" dirty="0"/>
              <a:t>E</a:t>
            </a:r>
            <a:r>
              <a:rPr lang="en-US" sz="2000" dirty="0" smtClean="0"/>
              <a:t>uropean countries like Norway, Sweden, Serbia perform really well in terms of efficiency.</a:t>
            </a:r>
          </a:p>
          <a:p>
            <a:pPr algn="just"/>
            <a:r>
              <a:rPr lang="en-US" sz="2000" dirty="0" smtClean="0"/>
              <a:t>Cuba performed really well in the 2000s decade despite not showing up in overall dominance or efficiency lists. It has strong recent performances with a weak history.</a:t>
            </a:r>
          </a:p>
          <a:p>
            <a:pPr algn="just"/>
            <a:r>
              <a:rPr lang="en-US" sz="2000" dirty="0" smtClean="0"/>
              <a:t>The list is highly dominated by European countries, 7/10 of the countries on the top 10 dominance list are European.</a:t>
            </a:r>
          </a:p>
          <a:p>
            <a:endParaRPr lang="en-US" sz="2000" dirty="0"/>
          </a:p>
        </p:txBody>
      </p:sp>
    </p:spTree>
    <p:extLst>
      <p:ext uri="{BB962C8B-B14F-4D97-AF65-F5344CB8AC3E}">
        <p14:creationId xmlns:p14="http://schemas.microsoft.com/office/powerpoint/2010/main" val="209607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sz="2400" dirty="0" smtClean="0"/>
              <a:t>GENDER and PHSYIOLOGY TRENDS: </a:t>
            </a:r>
          </a:p>
          <a:p>
            <a:pPr algn="just"/>
            <a:r>
              <a:rPr lang="en-US" sz="2000" dirty="0" smtClean="0"/>
              <a:t>Female participation has been steadily increasing over the years, with recent numbers almost reaching to 50%. It can be largely attributed to </a:t>
            </a:r>
            <a:r>
              <a:rPr lang="en-US" sz="2000" dirty="0" err="1"/>
              <a:t>u</a:t>
            </a:r>
            <a:r>
              <a:rPr lang="en-US" sz="2000" dirty="0" err="1" smtClean="0"/>
              <a:t>pliftment</a:t>
            </a:r>
            <a:r>
              <a:rPr lang="en-US" sz="2000" dirty="0" smtClean="0"/>
              <a:t> of women in many third world countries in recent decades and increase in women rights.</a:t>
            </a:r>
          </a:p>
          <a:p>
            <a:pPr algn="just"/>
            <a:r>
              <a:rPr lang="en-US" sz="2000" dirty="0" smtClean="0"/>
              <a:t>Interesting 1908 olympics features the tallest and heaviest athletes on average, this is likely due to a lot of height/weight records from that time missing and most only having records of winners skews the average.</a:t>
            </a:r>
          </a:p>
          <a:p>
            <a:pPr algn="just"/>
            <a:r>
              <a:rPr lang="en-US" sz="2000" dirty="0" smtClean="0"/>
              <a:t>The world war timeline features a heavy decline in average height and weight of the athletes.</a:t>
            </a:r>
          </a:p>
          <a:p>
            <a:pPr algn="just"/>
            <a:r>
              <a:rPr lang="en-US" sz="2000" dirty="0" smtClean="0"/>
              <a:t>Athletes post 2000s are taller and heavier than pre 2000s generally, likely due to the better nutritional diets and more budget given to sports nowadays compared to the previous years. </a:t>
            </a:r>
            <a:endParaRPr lang="en-US" sz="3600" dirty="0"/>
          </a:p>
        </p:txBody>
      </p:sp>
    </p:spTree>
    <p:extLst>
      <p:ext uri="{BB962C8B-B14F-4D97-AF65-F5344CB8AC3E}">
        <p14:creationId xmlns:p14="http://schemas.microsoft.com/office/powerpoint/2010/main" val="2700261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INSIGHTS FROM THE ANALYSIS</a:t>
            </a:r>
            <a:endParaRPr lang="en-US" dirty="0"/>
          </a:p>
        </p:txBody>
      </p:sp>
      <p:sp>
        <p:nvSpPr>
          <p:cNvPr id="3" name="Content Placeholder 2"/>
          <p:cNvSpPr>
            <a:spLocks noGrp="1"/>
          </p:cNvSpPr>
          <p:nvPr>
            <p:ph idx="1"/>
          </p:nvPr>
        </p:nvSpPr>
        <p:spPr/>
        <p:txBody>
          <a:bodyPr/>
          <a:lstStyle/>
          <a:p>
            <a:pPr marL="0" indent="0">
              <a:buNone/>
            </a:pPr>
            <a:r>
              <a:rPr lang="en-US" dirty="0" smtClean="0"/>
              <a:t>IS IT BENEFICIAL TO HOST THE OLYMPICS?</a:t>
            </a:r>
          </a:p>
          <a:p>
            <a:pPr marL="0" indent="0" algn="just">
              <a:buNone/>
            </a:pPr>
            <a:r>
              <a:rPr lang="en-US" sz="2400" dirty="0" smtClean="0"/>
              <a:t>This analysis shows that its </a:t>
            </a:r>
            <a:r>
              <a:rPr lang="en-US" sz="2400" u="sng" dirty="0" smtClean="0"/>
              <a:t>very beneficial to host the olympics</a:t>
            </a:r>
            <a:r>
              <a:rPr lang="en-US" sz="2400" dirty="0" smtClean="0"/>
              <a:t>, as countries that have done that have gained a very significant boost in their medal efficiency, with </a:t>
            </a:r>
            <a:r>
              <a:rPr lang="en-US" sz="2400" dirty="0"/>
              <a:t>F</a:t>
            </a:r>
            <a:r>
              <a:rPr lang="en-US" sz="2400" dirty="0" smtClean="0"/>
              <a:t>rance almost reaching a giant </a:t>
            </a:r>
            <a:r>
              <a:rPr lang="en-US" sz="2400" dirty="0" smtClean="0"/>
              <a:t>1000</a:t>
            </a:r>
            <a:r>
              <a:rPr lang="en-US" sz="2400" dirty="0" smtClean="0"/>
              <a:t>% </a:t>
            </a:r>
            <a:r>
              <a:rPr lang="en-US" sz="2400" dirty="0" smtClean="0"/>
              <a:t>average increase</a:t>
            </a:r>
            <a:r>
              <a:rPr lang="en-US" sz="2400" dirty="0" smtClean="0"/>
              <a:t>. This is likely due to the fact that when a country hosts olympics, the people of that countries get to experience the sports played. Olympics introduces  a lot of events that generally do not get played in the country, leading to a surge in people who are passionate about those sports. </a:t>
            </a:r>
            <a:endParaRPr lang="en-US" sz="2000" dirty="0" smtClean="0"/>
          </a:p>
        </p:txBody>
      </p:sp>
    </p:spTree>
    <p:extLst>
      <p:ext uri="{BB962C8B-B14F-4D97-AF65-F5344CB8AC3E}">
        <p14:creationId xmlns:p14="http://schemas.microsoft.com/office/powerpoint/2010/main" val="703764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78</TotalTime>
  <Words>893</Words>
  <Application>Microsoft Office PowerPoint</Application>
  <PresentationFormat>On-screen Show (4:3)</PresentationFormat>
  <Paragraphs>41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QUESTIONS TO ANSWER</vt:lpstr>
      <vt:lpstr>1-A : Most dominant countries</vt:lpstr>
      <vt:lpstr>1-B : Dominant countries by decade</vt:lpstr>
      <vt:lpstr>2-A : Most efficient countries</vt:lpstr>
      <vt:lpstr>2-B : Medals per olympic appearence</vt:lpstr>
      <vt:lpstr>3-A : Female participation</vt:lpstr>
      <vt:lpstr>3-B(1) : Athlete physiology trend</vt:lpstr>
      <vt:lpstr>3-B(2) : Athlete physiology trend</vt:lpstr>
      <vt:lpstr>4 : Most efficient countries</vt:lpstr>
      <vt:lpstr>INSIGHTS FROM THE ANALYSIS</vt:lpstr>
      <vt:lpstr>INSIGHTS FROM THE ANALYSIS</vt:lpstr>
      <vt:lpstr>INSIGHTS FROM THE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 : Most dominant COun</dc:title>
  <dc:creator>DELL</dc:creator>
  <cp:lastModifiedBy>DELL</cp:lastModifiedBy>
  <cp:revision>8</cp:revision>
  <dcterms:created xsi:type="dcterms:W3CDTF">2026-07-04T08:34:20Z</dcterms:created>
  <dcterms:modified xsi:type="dcterms:W3CDTF">2026-07-06T01:59:41Z</dcterms:modified>
</cp:coreProperties>
</file>